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Fira Code" panose="020B0809050000020004" pitchFamily="49" charset="0"/>
      <p:regular r:id="rId11"/>
      <p:bold r:id="rId12"/>
    </p:embeddedFont>
    <p:embeddedFont>
      <p:font typeface="Poppins Semi-Bold" panose="020B0604020202020204" charset="0"/>
      <p:regular r:id="rId13"/>
    </p:embeddedFont>
    <p:embeddedFont>
      <p:font typeface="Times New Roman Bold" panose="02020803070505020304" pitchFamily="18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D3CC00-9E03-4C7F-A1B2-69B1B9674AC2}" v="35" dt="2025-04-30T09:01:11.5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s.google.com/calendar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platform.openai.com/docs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hyperlink" Target="https://firebase.google.com/docs/database" TargetMode="External"/><Relationship Id="rId4" Type="http://schemas.openxmlformats.org/officeDocument/2006/relationships/image" Target="../media/image5.png"/><Relationship Id="rId9" Type="http://schemas.openxmlformats.org/officeDocument/2006/relationships/hyperlink" Target="https://ieeexplore.ieee.org/document/9234293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3.png"/><Relationship Id="rId7" Type="http://schemas.openxmlformats.org/officeDocument/2006/relationships/image" Target="../media/image8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jpg"/><Relationship Id="rId4" Type="http://schemas.openxmlformats.org/officeDocument/2006/relationships/image" Target="../media/image5.png"/><Relationship Id="rId9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143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214198" y="189277"/>
            <a:ext cx="5292017" cy="1678847"/>
          </a:xfrm>
          <a:custGeom>
            <a:avLst/>
            <a:gdLst/>
            <a:ahLst/>
            <a:cxnLst/>
            <a:rect l="l" t="t" r="r" b="b"/>
            <a:pathLst>
              <a:path w="5292017" h="1678847">
                <a:moveTo>
                  <a:pt x="0" y="0"/>
                </a:moveTo>
                <a:lnTo>
                  <a:pt x="5292017" y="0"/>
                </a:lnTo>
                <a:lnTo>
                  <a:pt x="5292017" y="1678846"/>
                </a:lnTo>
                <a:lnTo>
                  <a:pt x="0" y="16788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74368" y="302299"/>
            <a:ext cx="3042518" cy="1452802"/>
          </a:xfrm>
          <a:custGeom>
            <a:avLst/>
            <a:gdLst/>
            <a:ahLst/>
            <a:cxnLst/>
            <a:rect l="l" t="t" r="r" b="b"/>
            <a:pathLst>
              <a:path w="3042518" h="1452802">
                <a:moveTo>
                  <a:pt x="0" y="0"/>
                </a:moveTo>
                <a:lnTo>
                  <a:pt x="3042518" y="0"/>
                </a:lnTo>
                <a:lnTo>
                  <a:pt x="3042518" y="1452802"/>
                </a:lnTo>
                <a:lnTo>
                  <a:pt x="0" y="14528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119591" y="302299"/>
            <a:ext cx="1868213" cy="1868213"/>
          </a:xfrm>
          <a:custGeom>
            <a:avLst/>
            <a:gdLst/>
            <a:ahLst/>
            <a:cxnLst/>
            <a:rect l="l" t="t" r="r" b="b"/>
            <a:pathLst>
              <a:path w="1868213" h="1868213">
                <a:moveTo>
                  <a:pt x="0" y="0"/>
                </a:moveTo>
                <a:lnTo>
                  <a:pt x="1868213" y="0"/>
                </a:lnTo>
                <a:lnTo>
                  <a:pt x="1868213" y="1868213"/>
                </a:lnTo>
                <a:lnTo>
                  <a:pt x="0" y="18682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200400" y="3140491"/>
            <a:ext cx="13280767" cy="61669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•Problem Statement Title - </a:t>
            </a:r>
            <a:r>
              <a:rPr lang="en-US" sz="2400" b="1" i="0" dirty="0">
                <a:effectLst/>
              </a:rPr>
              <a:t>Build an AI-powered assistant that helps students manage study schedules, reminds them of deadlines, and answers questions using a custom-trained academic knowledge base.</a:t>
            </a:r>
            <a:endParaRPr lang="en-US" sz="2400" b="1" dirty="0">
              <a:ea typeface="Poppins Semi-Bold"/>
              <a:cs typeface="Poppins Semi-Bold"/>
              <a:sym typeface="Poppins Semi-Bold"/>
            </a:endParaRP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•Theme -</a:t>
            </a:r>
            <a:r>
              <a:rPr lang="en-IN" sz="3200" b="1" i="0" dirty="0">
                <a:effectLst/>
                <a:latin typeface="Fira Code" panose="020B0809050000020004" pitchFamily="49" charset="0"/>
              </a:rPr>
              <a:t>ARTIFICIAL INTELLIGENCE</a:t>
            </a: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•Team ID –</a:t>
            </a:r>
            <a:r>
              <a:rPr lang="en-US" sz="2997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U.ADEV13</a:t>
            </a: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•Team Name (Registered on Website) - </a:t>
            </a:r>
            <a:r>
              <a:rPr lang="en-US" sz="2997" dirty="0" err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DevSquad</a:t>
            </a:r>
            <a:endParaRPr lang="en-US" sz="2997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•Participant Names –U . Akash , N . Gopichand , M . John Nikhil , </a:t>
            </a: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                                     K . Karthikeya</a:t>
            </a:r>
          </a:p>
          <a:p>
            <a:pPr algn="just">
              <a:lnSpc>
                <a:spcPts val="5426"/>
              </a:lnSpc>
            </a:pPr>
            <a:endParaRPr lang="en-US" sz="2997" b="1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3421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94715" y="1084279"/>
            <a:ext cx="6730981" cy="1869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5"/>
              </a:lnSpc>
              <a:spcBef>
                <a:spcPct val="0"/>
              </a:spcBef>
            </a:pPr>
            <a:endParaRPr lang="en-US" sz="543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7615"/>
              </a:lnSpc>
              <a:spcBef>
                <a:spcPct val="0"/>
              </a:spcBef>
            </a:pPr>
            <a:endParaRPr lang="en-US" sz="543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321979" y="9794298"/>
            <a:ext cx="11076454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68156" y="496696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6" name="Group 6"/>
          <p:cNvGrpSpPr/>
          <p:nvPr/>
        </p:nvGrpSpPr>
        <p:grpSpPr>
          <a:xfrm>
            <a:off x="1843265" y="3087519"/>
            <a:ext cx="589810" cy="562162"/>
            <a:chOff x="0" y="0"/>
            <a:chExt cx="812800" cy="774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74700"/>
            </a:xfrm>
            <a:custGeom>
              <a:avLst/>
              <a:gdLst/>
              <a:ahLst/>
              <a:cxnLst/>
              <a:rect l="l" t="t" r="r" b="b"/>
              <a:pathLst>
                <a:path w="812800" h="7747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7040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228600" y="209550"/>
              <a:ext cx="355600" cy="400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12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38600" y="968148"/>
            <a:ext cx="10414874" cy="1869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4000" b="1" i="0" dirty="0">
                <a:effectLst/>
                <a:latin typeface="Fira Code" panose="020B0809050000020004" pitchFamily="49" charset="0"/>
              </a:rPr>
              <a:t>Smart Student Assistant using AI</a:t>
            </a:r>
          </a:p>
          <a:p>
            <a:pPr algn="ctr">
              <a:lnSpc>
                <a:spcPts val="7614"/>
              </a:lnSpc>
              <a:spcBef>
                <a:spcPct val="0"/>
              </a:spcBef>
            </a:pPr>
            <a:endParaRPr lang="en-US" sz="5438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605773" y="9794298"/>
            <a:ext cx="1049119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03148" y="2935119"/>
            <a:ext cx="12496443" cy="635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12"/>
              </a:lnSpc>
              <a:spcBef>
                <a:spcPct val="0"/>
              </a:spcBef>
            </a:pPr>
            <a:r>
              <a:rPr lang="en-US" sz="3865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03148" y="4273920"/>
            <a:ext cx="14063752" cy="56465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AI-powered virtual assistant for academic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Features include smart study scheduling, deadline reminders, and   </a:t>
            </a:r>
          </a:p>
          <a:p>
            <a:r>
              <a:rPr lang="en-US" sz="4000" dirty="0"/>
              <a:t>   academic Q&amp;A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Addresses student productivity, time management, and learning</a:t>
            </a:r>
          </a:p>
          <a:p>
            <a:r>
              <a:rPr lang="en-US" sz="4000" dirty="0"/>
              <a:t>  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Innovation lies in combining NLP with a custom academic</a:t>
            </a:r>
          </a:p>
          <a:p>
            <a:r>
              <a:rPr lang="en-US" sz="4000" dirty="0"/>
              <a:t> knowledge base for contextual answers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Adaptive planning based on performance and study behavior</a:t>
            </a:r>
          </a:p>
          <a:p>
            <a:pPr algn="l">
              <a:lnSpc>
                <a:spcPts val="6301"/>
              </a:lnSpc>
            </a:pPr>
            <a:endParaRPr lang="en-US" sz="386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5450C0BD-A479-5CB2-D7AD-FFF8C60B49F2}"/>
              </a:ext>
            </a:extLst>
          </p:cNvPr>
          <p:cNvSpPr txBox="1"/>
          <p:nvPr/>
        </p:nvSpPr>
        <p:spPr>
          <a:xfrm>
            <a:off x="793673" y="882423"/>
            <a:ext cx="1424228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Dev squad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21124" y="640956"/>
            <a:ext cx="9226960" cy="1071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19"/>
              </a:lnSpc>
              <a:spcBef>
                <a:spcPct val="0"/>
              </a:spcBef>
            </a:pPr>
            <a:r>
              <a:rPr lang="en-US" sz="565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64261" y="9794298"/>
            <a:ext cx="10783824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Dev squad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628287"/>
            <a:ext cx="17133472" cy="6839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301"/>
              </a:lnSpc>
            </a:pP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IN" sz="4000" dirty="0"/>
              <a:t>Frontend: React (Web frame work)</a:t>
            </a:r>
          </a:p>
          <a:p>
            <a:pPr>
              <a:lnSpc>
                <a:spcPts val="6301"/>
              </a:lnSpc>
            </a:pPr>
            <a:r>
              <a:rPr lang="en-IN" sz="4000" dirty="0"/>
              <a:t>  Backend: Node.js</a:t>
            </a:r>
          </a:p>
          <a:p>
            <a:pPr>
              <a:buNone/>
            </a:pPr>
            <a:r>
              <a:rPr lang="en-IN" sz="4000" b="1" dirty="0"/>
              <a:t>Methodology:</a:t>
            </a:r>
            <a:endParaRPr lang="en-IN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/>
              <a:t>User inputs schedule, syllabus, and preferences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/>
              <a:t>AI generates a personalized plan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/>
              <a:t>Deadlines tracked via integrated calendar sync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/>
              <a:t>NLP chatbot answers queries based on trained content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/>
              <a:t>Dashboard for tracking and recommendations</a:t>
            </a:r>
          </a:p>
          <a:p>
            <a:pPr algn="l">
              <a:lnSpc>
                <a:spcPts val="6301"/>
              </a:lnSpc>
            </a:pPr>
            <a:endParaRPr lang="en-US" sz="386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6301"/>
              </a:lnSpc>
            </a:pPr>
            <a:endParaRPr lang="en-US" sz="386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767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76856" y="455527"/>
            <a:ext cx="10590345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48719" y="9794298"/>
            <a:ext cx="1060374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A5491D3C-935F-96AC-DE20-409F5DE1DB25}"/>
              </a:ext>
            </a:extLst>
          </p:cNvPr>
          <p:cNvSpPr txBox="1"/>
          <p:nvPr/>
        </p:nvSpPr>
        <p:spPr>
          <a:xfrm>
            <a:off x="793673" y="882423"/>
            <a:ext cx="1424228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Dev squad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9AF357-95EA-BBBD-3F45-F27A8C9856A1}"/>
              </a:ext>
            </a:extLst>
          </p:cNvPr>
          <p:cNvSpPr txBox="1"/>
          <p:nvPr/>
        </p:nvSpPr>
        <p:spPr>
          <a:xfrm>
            <a:off x="793673" y="2169285"/>
            <a:ext cx="12922327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Feasibility Analysis</a:t>
            </a:r>
          </a:p>
          <a:p>
            <a:pPr>
              <a:buNone/>
            </a:pPr>
            <a:r>
              <a:rPr lang="en-IN" sz="2400" b="1" dirty="0"/>
              <a:t>A. Technical Feasibility</a:t>
            </a:r>
          </a:p>
          <a:p>
            <a:pPr>
              <a:buNone/>
            </a:pPr>
            <a:r>
              <a:rPr lang="en-IN" sz="2400" b="1" dirty="0"/>
              <a:t>1. Core Technologies Required: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Natural Language Processing (NLP)</a:t>
            </a:r>
            <a:r>
              <a:rPr lang="en-IN" sz="2400" dirty="0"/>
              <a:t> for understanding and responding to queries.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Machine Learning</a:t>
            </a:r>
            <a:r>
              <a:rPr lang="en-IN" sz="2400" dirty="0"/>
              <a:t> for intelligent task scheduling and prioritization.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Custom Knowledge Base Integration</a:t>
            </a:r>
            <a:r>
              <a:rPr lang="en-IN" sz="2400" dirty="0"/>
              <a:t> using embeddings or retrieval-augmented generation (RAG).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APIs/Integrations</a:t>
            </a:r>
            <a:r>
              <a:rPr lang="en-IN" sz="2400" dirty="0"/>
              <a:t> with platforms like Google Calendar, Notion, MS Teams,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Push Notification Systems</a:t>
            </a:r>
            <a:r>
              <a:rPr lang="en-IN" sz="2400" dirty="0"/>
              <a:t> for reminders (mobile/web).</a:t>
            </a:r>
          </a:p>
          <a:p>
            <a:pPr>
              <a:buNone/>
            </a:pPr>
            <a:r>
              <a:rPr lang="en-IN" sz="2400" b="1" dirty="0"/>
              <a:t>2. Available Tools/Platforms: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GPT-based LLMs (e.g., OpenAI, Claude,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Vector databases (e.g., Pinecone, </a:t>
            </a:r>
            <a:r>
              <a:rPr lang="en-IN" sz="2400" dirty="0" err="1"/>
              <a:t>Weaviate</a:t>
            </a:r>
            <a:r>
              <a:rPr lang="en-IN" sz="2400" dirty="0"/>
              <a:t>, FAISS) for custom knowledge bases.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Front-end (React Native for mobile, React for web).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Backend services (Node.js, Flask, Firebase).</a:t>
            </a:r>
          </a:p>
          <a:p>
            <a:pPr>
              <a:buNone/>
            </a:pPr>
            <a:r>
              <a:rPr lang="en-IN" sz="2400" b="1" dirty="0"/>
              <a:t>3. Risks &amp; Challenges: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Custom knowledge base maintenance.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Ensuring response accuracy and avoiding hallucinations.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Privacy and data security compliance (especially student data - FERPA, GDPR).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24650" y="565676"/>
            <a:ext cx="8879582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3860" y="9794298"/>
            <a:ext cx="1017605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02661" y="2849035"/>
            <a:ext cx="13993208" cy="5064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3"/>
              </a:lnSpc>
            </a:pPr>
            <a:r>
              <a:rPr lang="en-US" sz="411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•Target Audience Impact: 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students stay organized and improve academic performance Reduces stress through automation and reminders</a:t>
            </a:r>
          </a:p>
          <a:p>
            <a:pPr algn="l">
              <a:lnSpc>
                <a:spcPts val="6713"/>
              </a:lnSpc>
            </a:pPr>
            <a:r>
              <a:rPr lang="en-US" sz="4118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Benefits:</a:t>
            </a:r>
          </a:p>
          <a:p>
            <a:pPr algn="l">
              <a:lnSpc>
                <a:spcPts val="6713"/>
              </a:lnSpc>
            </a:pPr>
            <a:r>
              <a:rPr lang="en-US" sz="411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Social: 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Promotes self-discipline and accountability</a:t>
            </a:r>
          </a:p>
          <a:p>
            <a:pPr algn="l">
              <a:lnSpc>
                <a:spcPts val="6713"/>
              </a:lnSpc>
            </a:pPr>
            <a:r>
              <a:rPr lang="en-US" sz="411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Economic: 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Cost-effective digital mentor</a:t>
            </a:r>
          </a:p>
          <a:p>
            <a:pPr algn="l">
              <a:lnSpc>
                <a:spcPts val="6713"/>
              </a:lnSpc>
            </a:pPr>
            <a:r>
              <a:rPr lang="en-US" sz="411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Educational: 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access to academic assistance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686403D2-AEE6-97B0-1534-233E94A656EA}"/>
              </a:ext>
            </a:extLst>
          </p:cNvPr>
          <p:cNvSpPr txBox="1"/>
          <p:nvPr/>
        </p:nvSpPr>
        <p:spPr>
          <a:xfrm>
            <a:off x="793673" y="882423"/>
            <a:ext cx="1424228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Dev squad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82112" y="455527"/>
            <a:ext cx="11323776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95994" y="9794298"/>
            <a:ext cx="1037864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D3E3611F-9E6B-15BD-F72B-FDEFFF903700}"/>
              </a:ext>
            </a:extLst>
          </p:cNvPr>
          <p:cNvSpPr txBox="1"/>
          <p:nvPr/>
        </p:nvSpPr>
        <p:spPr>
          <a:xfrm>
            <a:off x="793673" y="882423"/>
            <a:ext cx="1424228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Dev squad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63CD56-1734-B9FE-C5A7-C0829DC97A16}"/>
              </a:ext>
            </a:extLst>
          </p:cNvPr>
          <p:cNvSpPr txBox="1"/>
          <p:nvPr/>
        </p:nvSpPr>
        <p:spPr>
          <a:xfrm>
            <a:off x="1371600" y="3848100"/>
            <a:ext cx="150114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OpenAI GPT (Language Model) : </a:t>
            </a:r>
            <a:r>
              <a:rPr lang="en-US" sz="2800" dirty="0">
                <a:hlinkClick r:id="rId7"/>
              </a:rPr>
              <a:t>https://platform.openai.com/docs</a:t>
            </a:r>
            <a:endParaRPr lang="en-US" sz="2800" dirty="0"/>
          </a:p>
          <a:p>
            <a:r>
              <a:rPr lang="en-IN" sz="2800" dirty="0"/>
              <a:t>Google Calendar API Documentation : </a:t>
            </a:r>
            <a:r>
              <a:rPr lang="en-IN" sz="2800" dirty="0">
                <a:hlinkClick r:id="rId8"/>
              </a:rPr>
              <a:t>https://developers.google.com/calendar</a:t>
            </a:r>
            <a:endParaRPr lang="en-IN" sz="2800" dirty="0"/>
          </a:p>
          <a:p>
            <a:r>
              <a:rPr lang="en-US" sz="2800" dirty="0"/>
              <a:t>IEEE Research on Student Time Management and AI in Education</a:t>
            </a:r>
            <a:endParaRPr lang="en-IN" sz="2800" dirty="0"/>
          </a:p>
          <a:p>
            <a:r>
              <a:rPr lang="en-US" sz="2800" dirty="0"/>
              <a:t>Article: "AI-Based Smart Study Planner“ : </a:t>
            </a:r>
            <a:r>
              <a:rPr lang="en-US" sz="2800" dirty="0">
                <a:hlinkClick r:id="rId9"/>
              </a:rPr>
              <a:t>https://ieeexplore.ieee.org/document/9234293\</a:t>
            </a:r>
            <a:endParaRPr lang="en-US" sz="2800" dirty="0"/>
          </a:p>
          <a:p>
            <a:r>
              <a:rPr lang="en-IN" sz="2800" dirty="0"/>
              <a:t>Firebase Realtime Database Docs (Optional for backend) : </a:t>
            </a:r>
            <a:r>
              <a:rPr lang="en-IN" sz="2800" dirty="0">
                <a:hlinkClick r:id="rId10"/>
              </a:rPr>
              <a:t>https://firebase.google.com/docs/database</a:t>
            </a:r>
            <a:endParaRPr lang="en-IN" sz="2800" dirty="0"/>
          </a:p>
          <a:p>
            <a:r>
              <a:rPr lang="en-US" sz="2800" dirty="0"/>
              <a:t>Python Scheduler Library (e.g., </a:t>
            </a:r>
            <a:r>
              <a:rPr lang="en-US" sz="2800" dirty="0" err="1"/>
              <a:t>APScheduler</a:t>
            </a:r>
            <a:r>
              <a:rPr lang="en-US" sz="2800" dirty="0"/>
              <a:t>) :  https://apscheduler.readthedocs.io/en/stable/ </a:t>
            </a:r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83474" y="841771"/>
            <a:ext cx="9937554" cy="104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ENHANCEMENTS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96330" y="9794298"/>
            <a:ext cx="10206967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6461" y="4198478"/>
            <a:ext cx="16680801" cy="401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l">
              <a:lnSpc>
                <a:spcPts val="6413"/>
              </a:lnSpc>
              <a:buFont typeface="Wingdings" panose="05000000000000000000" pitchFamily="2" charset="2"/>
              <a:buChar char="§"/>
            </a:pPr>
            <a:r>
              <a:rPr lang="en-US" sz="393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with LMS platforms (Moodle, Google Classroom)</a:t>
            </a:r>
          </a:p>
          <a:p>
            <a:pPr marL="571500" indent="-571500" algn="l">
              <a:lnSpc>
                <a:spcPts val="6413"/>
              </a:lnSpc>
              <a:buFont typeface="Wingdings" panose="05000000000000000000" pitchFamily="2" charset="2"/>
              <a:buChar char="§"/>
            </a:pPr>
            <a:r>
              <a:rPr lang="en-US" sz="393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Voice assistant support</a:t>
            </a:r>
          </a:p>
          <a:p>
            <a:pPr marL="571500" indent="-571500" algn="l">
              <a:lnSpc>
                <a:spcPts val="6413"/>
              </a:lnSpc>
              <a:buFont typeface="Wingdings" panose="05000000000000000000" pitchFamily="2" charset="2"/>
              <a:buChar char="§"/>
            </a:pPr>
            <a:r>
              <a:rPr lang="en-US" sz="393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analytics and progress reports</a:t>
            </a:r>
          </a:p>
          <a:p>
            <a:pPr marL="571500" indent="-571500" algn="l">
              <a:lnSpc>
                <a:spcPts val="6413"/>
              </a:lnSpc>
              <a:buFont typeface="Wingdings" panose="05000000000000000000" pitchFamily="2" charset="2"/>
              <a:buChar char="§"/>
            </a:pPr>
            <a:r>
              <a:rPr lang="en-US" sz="393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Multi-language support for regional access</a:t>
            </a:r>
          </a:p>
          <a:p>
            <a:pPr marL="571500" indent="-571500" algn="l">
              <a:lnSpc>
                <a:spcPts val="6413"/>
              </a:lnSpc>
              <a:buFont typeface="Wingdings" panose="05000000000000000000" pitchFamily="2" charset="2"/>
              <a:buChar char="§"/>
            </a:pPr>
            <a:r>
              <a:rPr lang="en-US" sz="393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tutor for subject-wise concept teaching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391D8893-F75A-D40A-8E9E-F87938598D65}"/>
              </a:ext>
            </a:extLst>
          </p:cNvPr>
          <p:cNvSpPr txBox="1"/>
          <p:nvPr/>
        </p:nvSpPr>
        <p:spPr>
          <a:xfrm>
            <a:off x="793673" y="882423"/>
            <a:ext cx="1424228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Dev squad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44036" y="1018927"/>
            <a:ext cx="8857072" cy="104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DEMO (IF APPLICABLE)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50476" y="9794298"/>
            <a:ext cx="10387047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465704"/>
            <a:ext cx="16448750" cy="722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1"/>
              </a:lnSpc>
            </a:pPr>
            <a:endParaRPr lang="en-US" sz="386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57DB5F91-325C-9370-ED2E-5CBFC8594292}"/>
              </a:ext>
            </a:extLst>
          </p:cNvPr>
          <p:cNvSpPr txBox="1"/>
          <p:nvPr/>
        </p:nvSpPr>
        <p:spPr>
          <a:xfrm>
            <a:off x="793673" y="882423"/>
            <a:ext cx="1424228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Dev squad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8C89064-1646-9AA0-50E2-5BA8EBA47F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329384"/>
            <a:ext cx="7146748" cy="330537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D2A0C69-C782-6C09-750C-AF11A05D869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800" y="2397450"/>
            <a:ext cx="7239000" cy="329148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E885F31-3E3F-6C61-73AA-3748BE5E181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040693"/>
            <a:ext cx="7116268" cy="33246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2BB00D1-FADF-3016-DFB3-F1EA1DC2B1B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800" y="6119476"/>
            <a:ext cx="7301727" cy="32914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19602" y="841771"/>
            <a:ext cx="10266947" cy="104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THANK YOU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95355" y="9794298"/>
            <a:ext cx="1049119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05000" y="2762656"/>
            <a:ext cx="14135258" cy="47616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34623" lvl="1" indent="-417311" algn="l">
              <a:lnSpc>
                <a:spcPts val="6301"/>
              </a:lnSpc>
              <a:buFont typeface="Arial"/>
              <a:buChar char="•"/>
            </a:pP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Smart Student Assistant using AI is a personalized academic helper that combines smart scheduling, reminders, and instant academic support to empower students.</a:t>
            </a:r>
          </a:p>
          <a:p>
            <a:pPr marL="417312" lvl="1" algn="l">
              <a:lnSpc>
                <a:spcPts val="6301"/>
              </a:lnSpc>
            </a:pPr>
            <a:r>
              <a:rPr lang="en-US" sz="4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Thanking you</a:t>
            </a:r>
          </a:p>
          <a:p>
            <a:pPr marL="834623" lvl="1" indent="-417311" algn="l">
              <a:lnSpc>
                <a:spcPts val="6301"/>
              </a:lnSpc>
              <a:buFont typeface="Arial"/>
              <a:buChar char="•"/>
            </a:pP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to the organizers and mentors of Code Mania for this opportunity.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72953BAD-BCEA-39D9-7A02-8238EDFB8838}"/>
              </a:ext>
            </a:extLst>
          </p:cNvPr>
          <p:cNvSpPr txBox="1"/>
          <p:nvPr/>
        </p:nvSpPr>
        <p:spPr>
          <a:xfrm>
            <a:off x="793673" y="882423"/>
            <a:ext cx="1424228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Dev squad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756</Words>
  <Application>Microsoft Office PowerPoint</Application>
  <PresentationFormat>Custom</PresentationFormat>
  <Paragraphs>93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Times New Roman Bold</vt:lpstr>
      <vt:lpstr>Poppins Semi-Bold</vt:lpstr>
      <vt:lpstr>Wingdings</vt:lpstr>
      <vt:lpstr>Arial</vt:lpstr>
      <vt:lpstr>Times New Roman</vt:lpstr>
      <vt:lpstr>Calibri</vt:lpstr>
      <vt:lpstr>Fira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Pink Gradient Modern Minimalist Computer Technology Presentation</dc:title>
  <cp:lastModifiedBy>karthikeya041105@outlook.com</cp:lastModifiedBy>
  <cp:revision>2</cp:revision>
  <dcterms:created xsi:type="dcterms:W3CDTF">2006-08-16T00:00:00Z</dcterms:created>
  <dcterms:modified xsi:type="dcterms:W3CDTF">2025-04-30T09:53:51Z</dcterms:modified>
  <dc:identifier>DAGmCImH0yY</dc:identifier>
</cp:coreProperties>
</file>